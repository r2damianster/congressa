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0" r:id="rId4"/>
    <p:sldId id="262" r:id="rId5"/>
    <p:sldId id="264" r:id="rId6"/>
    <p:sldId id="265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D7F97AA0-F7D0-BBEB-827F-B607DECDCEDA}">
          <p14:sldIdLst>
            <p14:sldId id="256"/>
          </p14:sldIdLst>
        </p14:section>
        <p14:section name="Introduction" id="{319CE2EF-7FDA-A15F-E923-B3BC48A8581E}">
          <p14:sldIdLst>
            <p14:sldId id="258"/>
          </p14:sldIdLst>
        </p14:section>
        <p14:section name="Methodology" id="{3DCEAAF7-A553-6FB3-99F3-7F1C03D93C4F}">
          <p14:sldIdLst>
            <p14:sldId id="260"/>
          </p14:sldIdLst>
        </p14:section>
        <p14:section name="Results" id="{019E3764-F41D-6F0D-602F-FA90F85F5022}">
          <p14:sldIdLst>
            <p14:sldId id="262"/>
          </p14:sldIdLst>
        </p14:section>
        <p14:section name="Conclusions" id="{B4BB4C4F-B805-2E14-2230-3798047F5E89}">
          <p14:sldIdLst>
            <p14:sldId id="264"/>
          </p14:sldIdLst>
        </p14:section>
        <p14:section name="Cierre" id="{845E89DC-FB7F-CCE1-225D-4F23F979C241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3A6B"/>
                </a:solidFill>
                <a:latin typeface="+mn-lt"/>
              </a:defRPr>
            </a:pPr>
            <a:r>
              <a:rPr lang="es-EC" sz="1400" b="0" i="0" u="none" strike="noStrike">
                <a:solidFill>
                  <a:srgbClr val="1A3A6B"/>
                </a:solidFill>
                <a:latin typeface="+mn-lt"/>
              </a:rPr>
              <a:t>Chart title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spPr>
            <a:solidFill>
              <a:srgbClr val="2A78B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433"/>
                    </a:solidFill>
                    <a:latin typeface="+mn-lt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A</c:v>
                </c:pt>
                <c:pt idx="1">
                  <c:v>Category B</c:v>
                </c:pt>
                <c:pt idx="2">
                  <c:v>Category C</c:v>
                </c:pt>
                <c:pt idx="3">
                  <c:v>Category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48</c:v>
                </c:pt>
                <c:pt idx="2">
                  <c:v>35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B4-4961-804A-D9817613BB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0925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Cover: work title and authorship. Replace the sample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Introduction: at most 4 ideas. One clear guiding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Methodology: 4 steps. Edit titles and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replace chart data (right-click &gt; Edit data) and key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Conclusions: 3 key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and acknowledgements.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EDUS_PORTADA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Users-User-Documents-Desarrollo-Web-Congress-manager\094f6f25-1bc5-463c-ba05-37955c55eaf5\scratchpad\motif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" y="338328"/>
            <a:ext cx="2798064" cy="1252728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4" name="Image 1" descr="c:\Users\User\Documents\Desarrollo Web\Congress_manager\LOGOINEDU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2651760" cy="110642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2"/>
          <p:cNvSpPr/>
          <p:nvPr/>
        </p:nvSpPr>
        <p:spPr>
          <a:xfrm>
            <a:off x="777240" y="3931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</a:rPr>
              <a:t>ORGANIZED BY</a:t>
            </a:r>
            <a:endParaRPr lang="en-US" sz="1000" dirty="0"/>
          </a:p>
        </p:txBody>
      </p:sp>
      <p:pic>
        <p:nvPicPr>
          <p:cNvPr id="7" name="Image 2" descr="c:\Users\User\Documents\Desarrollo Web\Congress_manager\miniatura_EHU_logoti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4023360"/>
            <a:ext cx="548640" cy="548640"/>
          </a:xfrm>
          <a:prstGeom prst="rect">
            <a:avLst/>
          </a:prstGeom>
        </p:spPr>
      </p:pic>
      <p:pic>
        <p:nvPicPr>
          <p:cNvPr id="8" name="Image 3" descr="c:\Users\User\Documents\Desarrollo Web\Congress_manager\KideON-EHU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087368"/>
            <a:ext cx="1399032" cy="457200"/>
          </a:xfrm>
          <a:prstGeom prst="rect">
            <a:avLst/>
          </a:prstGeom>
        </p:spPr>
      </p:pic>
      <p:pic>
        <p:nvPicPr>
          <p:cNvPr id="9" name="Image 4" descr="c:\Users\User\Documents\Desarrollo Web\Congress_manager\LOGO-ULEAM-VERTIC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023360"/>
            <a:ext cx="638251" cy="54864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5669280" y="3931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Bilbao (EHU) · Manta (ULEAM)</a:t>
            </a:r>
            <a:endParaRPr lang="en-US" sz="1200" dirty="0"/>
          </a:p>
        </p:txBody>
      </p:sp>
      <p:sp>
        <p:nvSpPr>
          <p:cNvPr id="11" name="Text 4"/>
          <p:cNvSpPr>
            <a:spLocks noGrp="1"/>
          </p:cNvSpPr>
          <p:nvPr>
            <p:ph type="title" idx="109" hasCustomPrompt="1"/>
          </p:nvPr>
        </p:nvSpPr>
        <p:spPr>
          <a:xfrm>
            <a:off x="548640" y="1737360"/>
            <a:ext cx="804672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EDUS_SECCION">
    <p:bg>
      <p:bgPr>
        <a:solidFill>
          <a:srgbClr val="2A78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Users-User-Documents-Desarrollo-Web-Congress-manager\094f6f25-1bc5-463c-ba05-37955c55eaf5\scratchpad\motif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233172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EDUS_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Users-User-Documents-Desarrollo-Web-Congress-manager\094f6f25-1bc5-463c-ba05-37955c55eaf5\scratchpad\motif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6400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4681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INEDUS 2026 · Oct 28–30 · Bilbao · Manta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EDUS_CIERRE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Users-User-Documents-Desarrollo-Web-Congress-manager\094f6f25-1bc5-463c-ba05-37955c55eaf5\scratchpad\motif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3931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</a:rPr>
              <a:t>ORGANIZED BY</a:t>
            </a:r>
            <a:endParaRPr lang="en-US" sz="1000" dirty="0"/>
          </a:p>
        </p:txBody>
      </p:sp>
      <p:pic>
        <p:nvPicPr>
          <p:cNvPr id="5" name="Image 1" descr="c:\Users\User\Documents\Desarrollo Web\Congress_manager\miniatura_EHU_logoti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4023360"/>
            <a:ext cx="548640" cy="548640"/>
          </a:xfrm>
          <a:prstGeom prst="rect">
            <a:avLst/>
          </a:prstGeom>
        </p:spPr>
      </p:pic>
      <p:pic>
        <p:nvPicPr>
          <p:cNvPr id="6" name="Image 2" descr="c:\Users\User\Documents\Desarrollo Web\Congress_manager\KideON-EHU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087368"/>
            <a:ext cx="1399032" cy="457200"/>
          </a:xfrm>
          <a:prstGeom prst="rect">
            <a:avLst/>
          </a:prstGeom>
        </p:spPr>
      </p:pic>
      <p:pic>
        <p:nvPicPr>
          <p:cNvPr id="7" name="Image 3" descr="c:\Users\User\Documents\Desarrollo Web\Congress_manager\LOGO-ULEAM-VERTIC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023360"/>
            <a:ext cx="638251" cy="54864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669280" y="3931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</a:rPr>
              <a:t>Bilbao (EHU) · Manta (ULEAM)</a:t>
            </a:r>
            <a:endParaRPr lang="en-US" sz="1200" dirty="0"/>
          </a:p>
        </p:txBody>
      </p:sp>
      <p:sp>
        <p:nvSpPr>
          <p:cNvPr id="9" name="Text 3"/>
          <p:cNvSpPr>
            <a:spLocks noGrp="1"/>
          </p:cNvSpPr>
          <p:nvPr>
            <p:ph type="title" idx="107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edus.ne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9" hasCustomPrompt="1"/>
          </p:nvPr>
        </p:nvSpPr>
        <p:spPr>
          <a:xfrm>
            <a:off x="548640" y="173736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Educational Innovation,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Inclusion and Sustainability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in Higher Education</a:t>
            </a:r>
            <a:endParaRPr lang="en-US" sz="2800" dirty="0"/>
          </a:p>
        </p:txBody>
      </p:sp>
      <p:sp>
        <p:nvSpPr>
          <p:cNvPr id="3" name="Fechas"/>
          <p:cNvSpPr txBox="1"/>
          <p:nvPr/>
        </p:nvSpPr>
        <p:spPr>
          <a:xfrm>
            <a:off x="3840480" y="4114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300" dirty="0">
                <a:solidFill>
                  <a:srgbClr val="3A9ECC"/>
                </a:solidFill>
              </a:rPr>
              <a:t>OCTOBER 28 · 29 · 30, 2026</a:t>
            </a:r>
            <a:endParaRPr lang="en-US" sz="1400" dirty="0"/>
          </a:p>
        </p:txBody>
      </p:sp>
      <p:sp>
        <p:nvSpPr>
          <p:cNvPr id="4" name="Subtítulo"/>
          <p:cNvSpPr txBox="1"/>
          <p:nvPr/>
        </p:nvSpPr>
        <p:spPr>
          <a:xfrm>
            <a:off x="548640" y="30906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3A9E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Exchange of Experiences</a:t>
            </a:r>
            <a:endParaRPr lang="en-US" sz="2000" dirty="0"/>
          </a:p>
        </p:txBody>
      </p:sp>
      <p:sp>
        <p:nvSpPr>
          <p:cNvPr id="5" name="Lema"/>
          <p:cNvSpPr txBox="1"/>
          <p:nvPr/>
        </p:nvSpPr>
        <p:spPr>
          <a:xfrm>
            <a:off x="548640" y="3474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A dialogue among teacher educators from Latin America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Introduction</a:t>
            </a:r>
            <a:endParaRPr lang="en-US" sz="3400" dirty="0"/>
          </a:p>
        </p:txBody>
      </p:sp>
      <p:sp>
        <p:nvSpPr>
          <p:cNvPr id="3" name="Ideas de introducción"/>
          <p:cNvSpPr txBox="1"/>
          <p:nvPr/>
        </p:nvSpPr>
        <p:spPr>
          <a:xfrm>
            <a:off x="548640" y="1508760"/>
            <a:ext cx="4389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433"/>
                </a:solidFill>
              </a:rPr>
              <a:t>Context and relevance of the topic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433"/>
                </a:solidFill>
              </a:rPr>
              <a:t>Problem or research question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433"/>
                </a:solidFill>
              </a:rPr>
              <a:t>General aim of the work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433"/>
                </a:solidFill>
              </a:rPr>
              <a:t>Theoretical framework in one line</a:t>
            </a:r>
            <a:endParaRPr lang="en-US" sz="1800" dirty="0"/>
          </a:p>
        </p:txBody>
      </p:sp>
      <p:sp>
        <p:nvSpPr>
          <p:cNvPr id="4" name="Tarjeta pregunta guía"/>
          <p:cNvSpPr/>
          <p:nvPr/>
        </p:nvSpPr>
        <p:spPr>
          <a:xfrm>
            <a:off x="5303520" y="1508760"/>
            <a:ext cx="3291840" cy="2834640"/>
          </a:xfrm>
          <a:prstGeom prst="roundRect">
            <a:avLst>
              <a:gd name="adj" fmla="val 3871"/>
            </a:avLst>
          </a:prstGeom>
          <a:solidFill>
            <a:schemeClr val="accent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Etiqueta pregunta"/>
          <p:cNvSpPr txBox="1"/>
          <p:nvPr/>
        </p:nvSpPr>
        <p:spPr>
          <a:xfrm>
            <a:off x="55778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A9ECC"/>
                </a:solidFill>
              </a:rPr>
              <a:t>GUIDING QUESTION</a:t>
            </a:r>
            <a:endParaRPr lang="en-US" sz="1200" dirty="0"/>
          </a:p>
        </p:txBody>
      </p:sp>
      <p:sp>
        <p:nvSpPr>
          <p:cNvPr id="6" name="Pregunta guía"/>
          <p:cNvSpPr txBox="1"/>
          <p:nvPr/>
        </p:nvSpPr>
        <p:spPr>
          <a:xfrm>
            <a:off x="5577840" y="210312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educational innovation strengthen sustainability in Higher Education?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Methodology</a:t>
            </a:r>
            <a:endParaRPr lang="en-US" sz="3400" dirty="0"/>
          </a:p>
        </p:txBody>
      </p:sp>
      <p:sp>
        <p:nvSpPr>
          <p:cNvPr id="3" name="Tarjeta paso 1"/>
          <p:cNvSpPr/>
          <p:nvPr/>
        </p:nvSpPr>
        <p:spPr>
          <a:xfrm>
            <a:off x="548640" y="150876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4" name="Círculo paso 1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Número paso 1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ítulo paso 1"/>
          <p:cNvSpPr txBox="1"/>
          <p:nvPr/>
        </p:nvSpPr>
        <p:spPr>
          <a:xfrm>
            <a:off x="77724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Design</a:t>
            </a:r>
            <a:endParaRPr lang="en-US" sz="1800" dirty="0"/>
          </a:p>
        </p:txBody>
      </p:sp>
      <p:sp>
        <p:nvSpPr>
          <p:cNvPr id="7" name="Descripción paso 1"/>
          <p:cNvSpPr txBox="1"/>
          <p:nvPr/>
        </p:nvSpPr>
        <p:spPr>
          <a:xfrm>
            <a:off x="777240" y="31089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Approach and study type</a:t>
            </a:r>
            <a:endParaRPr lang="en-US" sz="1400" dirty="0"/>
          </a:p>
        </p:txBody>
      </p:sp>
      <p:sp>
        <p:nvSpPr>
          <p:cNvPr id="8" name="Tarjeta paso 2"/>
          <p:cNvSpPr/>
          <p:nvPr/>
        </p:nvSpPr>
        <p:spPr>
          <a:xfrm>
            <a:off x="2621280" y="150876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9" name="Círculo paso 2"/>
          <p:cNvSpPr/>
          <p:nvPr/>
        </p:nvSpPr>
        <p:spPr>
          <a:xfrm>
            <a:off x="284988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0" name="Número paso 2"/>
          <p:cNvSpPr txBox="1"/>
          <p:nvPr/>
        </p:nvSpPr>
        <p:spPr>
          <a:xfrm>
            <a:off x="28498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ítulo paso 2"/>
          <p:cNvSpPr txBox="1"/>
          <p:nvPr/>
        </p:nvSpPr>
        <p:spPr>
          <a:xfrm>
            <a:off x="284988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Participants</a:t>
            </a:r>
            <a:endParaRPr lang="en-US" sz="1800" dirty="0"/>
          </a:p>
        </p:txBody>
      </p:sp>
      <p:sp>
        <p:nvSpPr>
          <p:cNvPr id="12" name="Descripción paso 2"/>
          <p:cNvSpPr txBox="1"/>
          <p:nvPr/>
        </p:nvSpPr>
        <p:spPr>
          <a:xfrm>
            <a:off x="2849880" y="31089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Sample and context</a:t>
            </a:r>
            <a:endParaRPr lang="en-US" sz="1400" dirty="0"/>
          </a:p>
        </p:txBody>
      </p:sp>
      <p:sp>
        <p:nvSpPr>
          <p:cNvPr id="13" name="Tarjeta paso 3"/>
          <p:cNvSpPr/>
          <p:nvPr/>
        </p:nvSpPr>
        <p:spPr>
          <a:xfrm>
            <a:off x="4693920" y="150876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4" name="Círculo paso 3"/>
          <p:cNvSpPr/>
          <p:nvPr/>
        </p:nvSpPr>
        <p:spPr>
          <a:xfrm>
            <a:off x="492252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5" name="Número paso 3"/>
          <p:cNvSpPr txBox="1"/>
          <p:nvPr/>
        </p:nvSpPr>
        <p:spPr>
          <a:xfrm>
            <a:off x="49225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ítulo paso 3"/>
          <p:cNvSpPr txBox="1"/>
          <p:nvPr/>
        </p:nvSpPr>
        <p:spPr>
          <a:xfrm>
            <a:off x="492252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Instruments</a:t>
            </a:r>
            <a:endParaRPr lang="en-US" sz="1800" dirty="0"/>
          </a:p>
        </p:txBody>
      </p:sp>
      <p:sp>
        <p:nvSpPr>
          <p:cNvPr id="17" name="Descripción paso 3"/>
          <p:cNvSpPr txBox="1"/>
          <p:nvPr/>
        </p:nvSpPr>
        <p:spPr>
          <a:xfrm>
            <a:off x="4922520" y="31089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Data collection techniques</a:t>
            </a:r>
            <a:endParaRPr lang="en-US" sz="1400" dirty="0"/>
          </a:p>
        </p:txBody>
      </p:sp>
      <p:sp>
        <p:nvSpPr>
          <p:cNvPr id="18" name="Tarjeta paso 4"/>
          <p:cNvSpPr/>
          <p:nvPr/>
        </p:nvSpPr>
        <p:spPr>
          <a:xfrm>
            <a:off x="6766560" y="150876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9" name="Círculo paso 4"/>
          <p:cNvSpPr/>
          <p:nvPr/>
        </p:nvSpPr>
        <p:spPr>
          <a:xfrm>
            <a:off x="6995160" y="17830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0" name="Número paso 4"/>
          <p:cNvSpPr txBox="1"/>
          <p:nvPr/>
        </p:nvSpPr>
        <p:spPr>
          <a:xfrm>
            <a:off x="69951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ítulo paso 4"/>
          <p:cNvSpPr txBox="1"/>
          <p:nvPr/>
        </p:nvSpPr>
        <p:spPr>
          <a:xfrm>
            <a:off x="699516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Analysis</a:t>
            </a:r>
            <a:endParaRPr lang="en-US" sz="1800" dirty="0"/>
          </a:p>
        </p:txBody>
      </p:sp>
      <p:sp>
        <p:nvSpPr>
          <p:cNvPr id="22" name="Descripción paso 4"/>
          <p:cNvSpPr txBox="1"/>
          <p:nvPr/>
        </p:nvSpPr>
        <p:spPr>
          <a:xfrm>
            <a:off x="6995160" y="31089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Analysis procedure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Results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493776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arjeta cifra 1"/>
          <p:cNvSpPr/>
          <p:nvPr/>
        </p:nvSpPr>
        <p:spPr>
          <a:xfrm>
            <a:off x="5852160" y="1508760"/>
            <a:ext cx="2743200" cy="1325880"/>
          </a:xfrm>
          <a:prstGeom prst="roundRect">
            <a:avLst>
              <a:gd name="adj" fmla="val 8276"/>
            </a:avLst>
          </a:prstGeom>
          <a:solidFill>
            <a:schemeClr val="accent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Cifra 1"/>
          <p:cNvSpPr txBox="1"/>
          <p:nvPr/>
        </p:nvSpPr>
        <p:spPr>
          <a:xfrm>
            <a:off x="608076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00 %</a:t>
            </a:r>
            <a:endParaRPr lang="en-US" sz="4000" dirty="0"/>
          </a:p>
        </p:txBody>
      </p:sp>
      <p:sp>
        <p:nvSpPr>
          <p:cNvPr id="6" name="Etiqueta cifra 1"/>
          <p:cNvSpPr txBox="1"/>
          <p:nvPr/>
        </p:nvSpPr>
        <p:spPr>
          <a:xfrm>
            <a:off x="608076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Key figure 1</a:t>
            </a:r>
            <a:endParaRPr lang="en-US" sz="1400" dirty="0"/>
          </a:p>
        </p:txBody>
      </p:sp>
      <p:sp>
        <p:nvSpPr>
          <p:cNvPr id="7" name="Tarjeta cifra 2"/>
          <p:cNvSpPr/>
          <p:nvPr/>
        </p:nvSpPr>
        <p:spPr>
          <a:xfrm>
            <a:off x="5852160" y="3017520"/>
            <a:ext cx="2743200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8" name="Cifra 2"/>
          <p:cNvSpPr txBox="1"/>
          <p:nvPr/>
        </p:nvSpPr>
        <p:spPr>
          <a:xfrm>
            <a:off x="6080760" y="3154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00 %</a:t>
            </a:r>
            <a:endParaRPr lang="en-US" sz="4000" dirty="0"/>
          </a:p>
        </p:txBody>
      </p:sp>
      <p:sp>
        <p:nvSpPr>
          <p:cNvPr id="9" name="Etiqueta cifra 2"/>
          <p:cNvSpPr txBox="1"/>
          <p:nvPr/>
        </p:nvSpPr>
        <p:spPr>
          <a:xfrm>
            <a:off x="608076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Key figure 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Conclusions</a:t>
            </a:r>
            <a:endParaRPr lang="en-US" sz="3400" dirty="0"/>
          </a:p>
        </p:txBody>
      </p:sp>
      <p:sp>
        <p:nvSpPr>
          <p:cNvPr id="3" name="Fila conclusión 1"/>
          <p:cNvSpPr/>
          <p:nvPr/>
        </p:nvSpPr>
        <p:spPr>
          <a:xfrm>
            <a:off x="548640" y="1417320"/>
            <a:ext cx="8046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4" name="Círculo conclusión 1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Número conclusión 1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ítulo conclusión 1"/>
          <p:cNvSpPr txBox="1"/>
          <p:nvPr/>
        </p:nvSpPr>
        <p:spPr>
          <a:xfrm>
            <a:off x="1554480" y="15087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Main finding</a:t>
            </a:r>
            <a:endParaRPr lang="en-US" sz="1800" dirty="0"/>
          </a:p>
        </p:txBody>
      </p:sp>
      <p:sp>
        <p:nvSpPr>
          <p:cNvPr id="7" name="Descripción conclusión 1"/>
          <p:cNvSpPr txBox="1"/>
          <p:nvPr/>
        </p:nvSpPr>
        <p:spPr>
          <a:xfrm>
            <a:off x="1554480" y="18745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Direct answer to the research question</a:t>
            </a:r>
            <a:endParaRPr lang="en-US" sz="1400" dirty="0"/>
          </a:p>
        </p:txBody>
      </p:sp>
      <p:sp>
        <p:nvSpPr>
          <p:cNvPr id="8" name="Fila conclusión 2"/>
          <p:cNvSpPr/>
          <p:nvPr/>
        </p:nvSpPr>
        <p:spPr>
          <a:xfrm>
            <a:off x="548640" y="2468880"/>
            <a:ext cx="8046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9" name="Círculo conclusión 2"/>
          <p:cNvSpPr/>
          <p:nvPr/>
        </p:nvSpPr>
        <p:spPr>
          <a:xfrm>
            <a:off x="777240" y="265176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0" name="Número conclusión 2"/>
          <p:cNvSpPr txBox="1"/>
          <p:nvPr/>
        </p:nvSpPr>
        <p:spPr>
          <a:xfrm>
            <a:off x="7772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ítulo conclusión 2"/>
          <p:cNvSpPr txBox="1"/>
          <p:nvPr/>
        </p:nvSpPr>
        <p:spPr>
          <a:xfrm>
            <a:off x="1554480" y="2560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Implications for practice</a:t>
            </a:r>
            <a:endParaRPr lang="en-US" sz="1800" dirty="0"/>
          </a:p>
        </p:txBody>
      </p:sp>
      <p:sp>
        <p:nvSpPr>
          <p:cNvPr id="12" name="Descripción conclusión 2"/>
          <p:cNvSpPr txBox="1"/>
          <p:nvPr/>
        </p:nvSpPr>
        <p:spPr>
          <a:xfrm>
            <a:off x="1554480" y="29260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What teachers or institutions can do</a:t>
            </a:r>
            <a:endParaRPr lang="en-US" sz="1400" dirty="0"/>
          </a:p>
        </p:txBody>
      </p:sp>
      <p:sp>
        <p:nvSpPr>
          <p:cNvPr id="13" name="Fila conclusión 3"/>
          <p:cNvSpPr/>
          <p:nvPr/>
        </p:nvSpPr>
        <p:spPr>
          <a:xfrm>
            <a:off x="548640" y="3520440"/>
            <a:ext cx="8046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4" name="Círculo conclusión 3"/>
          <p:cNvSpPr/>
          <p:nvPr/>
        </p:nvSpPr>
        <p:spPr>
          <a:xfrm>
            <a:off x="777240" y="37033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5" name="Número conclusión 3"/>
          <p:cNvSpPr txBox="1"/>
          <p:nvPr/>
        </p:nvSpPr>
        <p:spPr>
          <a:xfrm>
            <a:off x="7772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ítulo conclusión 3"/>
          <p:cNvSpPr txBox="1"/>
          <p:nvPr/>
        </p:nvSpPr>
        <p:spPr>
          <a:xfrm>
            <a:off x="1554480" y="3611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Future lines</a:t>
            </a:r>
            <a:endParaRPr lang="en-US" sz="1800" dirty="0"/>
          </a:p>
        </p:txBody>
      </p:sp>
      <p:sp>
        <p:nvSpPr>
          <p:cNvPr id="17" name="Descripción conclusión 3"/>
          <p:cNvSpPr txBox="1"/>
          <p:nvPr/>
        </p:nvSpPr>
        <p:spPr>
          <a:xfrm>
            <a:off x="1554480" y="39776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Limitations and next steps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7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Lema"/>
          <p:cNvSpPr txBox="1"/>
          <p:nvPr/>
        </p:nvSpPr>
        <p:spPr>
          <a:xfrm>
            <a:off x="548640" y="2514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A9E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dialogue among teacher educators from Latin America</a:t>
            </a:r>
            <a:endParaRPr lang="en-US" sz="1800" dirty="0"/>
          </a:p>
        </p:txBody>
      </p:sp>
      <p:sp>
        <p:nvSpPr>
          <p:cNvPr id="4" name="Web">
            <a:hlinkClick r:id="rId3"/>
          </p:cNvPr>
          <p:cNvSpPr txBox="1"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www.inedus.net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EDUS 2026">
  <a:themeElements>
    <a:clrScheme name="INEDUS 2026">
      <a:dk1>
        <a:srgbClr val="1B2433"/>
      </a:dk1>
      <a:lt1>
        <a:srgbClr val="FFFFFF"/>
      </a:lt1>
      <a:dk2>
        <a:srgbClr val="1A3A6B"/>
      </a:dk2>
      <a:lt2>
        <a:srgbClr val="F7F8FA"/>
      </a:lt2>
      <a:accent1>
        <a:srgbClr val="1A3A6B"/>
      </a:accent1>
      <a:accent2>
        <a:srgbClr val="3A9ECC"/>
      </a:accent2>
      <a:accent3>
        <a:srgbClr val="2A78B0"/>
      </a:accent3>
      <a:accent4>
        <a:srgbClr val="2E7D5E"/>
      </a:accent4>
      <a:accent5>
        <a:srgbClr val="64748B"/>
      </a:accent5>
      <a:accent6>
        <a:srgbClr val="CBD5E1"/>
      </a:accent6>
      <a:hlink>
        <a:srgbClr val="2A78B0"/>
      </a:hlink>
      <a:folHlink>
        <a:srgbClr val="64748B"/>
      </a:folHlink>
    </a:clrScheme>
    <a:fontScheme name="INEDUS 2026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206</Words>
  <Application>Microsoft Office PowerPoint</Application>
  <PresentationFormat>Presentación en pantalla (16:9)</PresentationFormat>
  <Paragraphs>61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INEDUS 2026</vt:lpstr>
      <vt:lpstr>Educational Innovation, Inclusion and Sustainability in Higher Education</vt:lpstr>
      <vt:lpstr>Introduction</vt:lpstr>
      <vt:lpstr>Methodology</vt:lpstr>
      <vt:lpstr>Results</vt:lpstr>
      <vt:lpstr>Conclusions</vt:lpstr>
      <vt:lpstr>Thank you</vt:lpstr>
    </vt:vector>
  </TitlesOfParts>
  <Company>INEDUS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INEDUS 2026 — Plantilla EN</dc:title>
  <dc:subject>PptxGenJS Presentation</dc:subject>
  <dc:creator>INEDUS 2026</dc:creator>
  <cp:lastModifiedBy>uleam.arodriguez Rodriguez</cp:lastModifiedBy>
  <cp:revision>2</cp:revision>
  <dcterms:created xsi:type="dcterms:W3CDTF">2026-10-05T16:52:08Z</dcterms:created>
  <dcterms:modified xsi:type="dcterms:W3CDTF">2026-10-05T17:01:37Z</dcterms:modified>
</cp:coreProperties>
</file>