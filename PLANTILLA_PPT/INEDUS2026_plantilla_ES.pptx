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2" r:id="rId5"/>
    <p:sldId id="264" r:id="rId6"/>
    <p:sldId id="265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F7151528-C62D-7D52-AD9C-28F1A66AE5C2}">
          <p14:sldIdLst>
            <p14:sldId id="256"/>
          </p14:sldIdLst>
        </p14:section>
        <p14:section name="Introducción" id="{7179F437-BDD0-8AF7-B5F2-1945FDCF4DE9}">
          <p14:sldIdLst>
            <p14:sldId id="258"/>
          </p14:sldIdLst>
        </p14:section>
        <p14:section name="Metodología" id="{98CFB0F1-5C79-9184-2AFB-2B0CC69DC027}">
          <p14:sldIdLst>
            <p14:sldId id="260"/>
          </p14:sldIdLst>
        </p14:section>
        <p14:section name="Resultados" id="{316D11C5-E453-C0B5-F18C-AC79B032EBD9}">
          <p14:sldIdLst>
            <p14:sldId id="262"/>
          </p14:sldIdLst>
        </p14:section>
        <p14:section name="Conclusiones" id="{C29CAFAA-4C78-EFE0-AF14-3AE4FAD6B555}">
          <p14:sldIdLst>
            <p14:sldId id="264"/>
          </p14:sldIdLst>
        </p14:section>
        <p14:section name="Cierre" id="{DE1F3613-521C-E680-0B6E-74C6C030171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3A6B"/>
                </a:solidFill>
                <a:latin typeface="+mn-lt"/>
              </a:defRPr>
            </a:pPr>
            <a:r>
              <a:rPr lang="es-EC" sz="1400" b="0" i="0" u="none" strike="noStrike">
                <a:solidFill>
                  <a:srgbClr val="1A3A6B"/>
                </a:solidFill>
                <a:latin typeface="+mn-lt"/>
              </a:rPr>
              <a:t>Título del gráfico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2A78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3"/>
                    </a:solidFill>
                    <a:latin typeface="+mn-lt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Categoría A</c:v>
                </c:pt>
                <c:pt idx="1">
                  <c:v>Categoría B</c:v>
                </c:pt>
                <c:pt idx="2">
                  <c:v>Categoría C</c:v>
                </c:pt>
                <c:pt idx="3">
                  <c:v>Categoría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48</c:v>
                </c:pt>
                <c:pt idx="2">
                  <c:v>35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D-4F00-97B4-DF44572E78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34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título del trabajo y autoría. Sustituye los textos de ejemplo.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Introducción: máximo 4 ideas. Una pregunta guía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Metodología: 4 pasos. Edita títulos y descripciones.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Resultados: sustituye datos del gráfico (clic derecho &gt; Editar datos) y las cifras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Conclusiones: 3 ideas fuerza.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agradecimientos.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PORTADA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" y="338328"/>
            <a:ext cx="2798064" cy="125272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" name="Image 1" descr="c:\Users\User\Documents\Desarrollo Web\Congress_manager\LOGOINEDU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651760" cy="11064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2"/>
          <p:cNvSpPr/>
          <p:nvPr/>
        </p:nvSpPr>
        <p:spPr>
          <a:xfrm>
            <a:off x="77724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ORGANIZAN</a:t>
            </a:r>
            <a:endParaRPr lang="en-US" sz="1000" dirty="0"/>
          </a:p>
        </p:txBody>
      </p:sp>
      <p:pic>
        <p:nvPicPr>
          <p:cNvPr id="7" name="Image 2" descr="c:\Users\User\Documents\Desarrollo Web\Congress_manager\miniatura_EHU_log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023360"/>
            <a:ext cx="548640" cy="548640"/>
          </a:xfrm>
          <a:prstGeom prst="rect">
            <a:avLst/>
          </a:prstGeom>
        </p:spPr>
      </p:pic>
      <p:pic>
        <p:nvPicPr>
          <p:cNvPr id="8" name="Image 3" descr="c:\Users\User\Documents\Desarrollo Web\Congress_manager\KideON-EH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087368"/>
            <a:ext cx="1399032" cy="457200"/>
          </a:xfrm>
          <a:prstGeom prst="rect">
            <a:avLst/>
          </a:prstGeom>
        </p:spPr>
      </p:pic>
      <p:pic>
        <p:nvPicPr>
          <p:cNvPr id="9" name="Image 4" descr="c:\Users\User\Documents\Desarrollo Web\Congress_manager\LOGO-ULEAM-VERT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23360"/>
            <a:ext cx="638251" cy="5486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669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Bilbao (EHU) · Manta (ULEAM)</a:t>
            </a:r>
            <a:endParaRPr lang="en-US" sz="1200" dirty="0"/>
          </a:p>
        </p:txBody>
      </p:sp>
      <p:sp>
        <p:nvSpPr>
          <p:cNvPr id="11" name="Text 4"/>
          <p:cNvSpPr>
            <a:spLocks noGrp="1"/>
          </p:cNvSpPr>
          <p:nvPr>
            <p:ph type="title" idx="109" hasCustomPrompt="1"/>
          </p:nvPr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SECCION">
    <p:bg>
      <p:bgPr>
        <a:solidFill>
          <a:srgbClr val="2A7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3317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INEDUS 2026 · 28–30 oct · Bilbao · Manta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CIERRE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ORGANIZAN</a:t>
            </a:r>
            <a:endParaRPr lang="en-US" sz="1000" dirty="0"/>
          </a:p>
        </p:txBody>
      </p:sp>
      <p:pic>
        <p:nvPicPr>
          <p:cNvPr id="5" name="Image 1" descr="c:\Users\User\Documents\Desarrollo Web\Congress_manager\miniatura_EHU_log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023360"/>
            <a:ext cx="548640" cy="548640"/>
          </a:xfrm>
          <a:prstGeom prst="rect">
            <a:avLst/>
          </a:prstGeom>
        </p:spPr>
      </p:pic>
      <p:pic>
        <p:nvPicPr>
          <p:cNvPr id="6" name="Image 2" descr="c:\Users\User\Documents\Desarrollo Web\Congress_manager\KideON-EH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87368"/>
            <a:ext cx="1399032" cy="457200"/>
          </a:xfrm>
          <a:prstGeom prst="rect">
            <a:avLst/>
          </a:prstGeom>
        </p:spPr>
      </p:pic>
      <p:pic>
        <p:nvPicPr>
          <p:cNvPr id="7" name="Image 3" descr="c:\Users\User\Documents\Desarrollo Web\Congress_manager\LOGO-ULEAM-VERT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23360"/>
            <a:ext cx="638251" cy="5486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69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Bilbao (EHU) · Manta (ULEAM)</a:t>
            </a:r>
            <a:endParaRPr lang="en-US" sz="1200" dirty="0"/>
          </a:p>
        </p:txBody>
      </p:sp>
      <p:sp>
        <p:nvSpPr>
          <p:cNvPr id="9" name="Text 3"/>
          <p:cNvSpPr>
            <a:spLocks noGrp="1"/>
          </p:cNvSpPr>
          <p:nvPr>
            <p:ph type="title" idx="107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edus.ne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9" hasCustomPrompt="1"/>
          </p:nvPr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Innovación Educativa,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Inclusión y Sostenibilidad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en Educación Superior</a:t>
            </a:r>
            <a:endParaRPr lang="en-US" sz="2800" dirty="0"/>
          </a:p>
        </p:txBody>
      </p:sp>
      <p:sp>
        <p:nvSpPr>
          <p:cNvPr id="3" name="Fechas"/>
          <p:cNvSpPr txBox="1"/>
          <p:nvPr/>
        </p:nvSpPr>
        <p:spPr>
          <a:xfrm>
            <a:off x="3840480" y="4114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300" dirty="0">
                <a:solidFill>
                  <a:srgbClr val="3A9ECC"/>
                </a:solidFill>
              </a:rPr>
              <a:t>28 · 29 · 30 DE OCTUBRE 2026</a:t>
            </a:r>
            <a:endParaRPr lang="en-US" sz="14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30906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A9E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Intercambio de experiencias</a:t>
            </a:r>
            <a:endParaRPr lang="en-US" sz="2000" dirty="0"/>
          </a:p>
        </p:txBody>
      </p:sp>
      <p:sp>
        <p:nvSpPr>
          <p:cNvPr id="5" name="Lema"/>
          <p:cNvSpPr txBox="1"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Un diálogo entre los formadores de docentes de Iberoamérica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Introducción</a:t>
            </a:r>
            <a:endParaRPr lang="en-US" sz="3400" dirty="0"/>
          </a:p>
        </p:txBody>
      </p:sp>
      <p:sp>
        <p:nvSpPr>
          <p:cNvPr id="3" name="Ideas de introducción"/>
          <p:cNvSpPr txBox="1"/>
          <p:nvPr/>
        </p:nvSpPr>
        <p:spPr>
          <a:xfrm>
            <a:off x="548640" y="150876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Contexto y relevancia del tema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Problema o pregunta de investigación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Objetivo general del trabajo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Marco teórico en una línea</a:t>
            </a:r>
            <a:endParaRPr lang="en-US" sz="1800" dirty="0"/>
          </a:p>
        </p:txBody>
      </p:sp>
      <p:sp>
        <p:nvSpPr>
          <p:cNvPr id="4" name="Tarjeta pregunta guía"/>
          <p:cNvSpPr/>
          <p:nvPr/>
        </p:nvSpPr>
        <p:spPr>
          <a:xfrm>
            <a:off x="5303520" y="1508760"/>
            <a:ext cx="329184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Etiqueta pregunta"/>
          <p:cNvSpPr txBox="1"/>
          <p:nvPr/>
        </p:nvSpPr>
        <p:spPr>
          <a:xfrm>
            <a:off x="5577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A9ECC"/>
                </a:solidFill>
              </a:rPr>
              <a:t>PREGUNTA GUÍA</a:t>
            </a:r>
            <a:endParaRPr lang="en-US" sz="1200" dirty="0"/>
          </a:p>
        </p:txBody>
      </p:sp>
      <p:sp>
        <p:nvSpPr>
          <p:cNvPr id="6" name="Pregunta guía"/>
          <p:cNvSpPr txBox="1"/>
          <p:nvPr/>
        </p:nvSpPr>
        <p:spPr>
          <a:xfrm>
            <a:off x="5577840" y="21031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puede la innovación educativa fortalecer la sostenibilidad en la Educación Superior?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Metodología</a:t>
            </a:r>
            <a:endParaRPr lang="en-US" sz="3400" dirty="0"/>
          </a:p>
        </p:txBody>
      </p:sp>
      <p:sp>
        <p:nvSpPr>
          <p:cNvPr id="3" name="Tarjeta paso 1"/>
          <p:cNvSpPr/>
          <p:nvPr/>
        </p:nvSpPr>
        <p:spPr>
          <a:xfrm>
            <a:off x="54864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Círculo paso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Número paso 1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ítulo paso 1"/>
          <p:cNvSpPr txBox="1"/>
          <p:nvPr/>
        </p:nvSpPr>
        <p:spPr>
          <a:xfrm>
            <a:off x="7772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Diseño</a:t>
            </a:r>
            <a:endParaRPr lang="en-US" sz="1800" dirty="0"/>
          </a:p>
        </p:txBody>
      </p:sp>
      <p:sp>
        <p:nvSpPr>
          <p:cNvPr id="7" name="Descripción paso 1"/>
          <p:cNvSpPr txBox="1"/>
          <p:nvPr/>
        </p:nvSpPr>
        <p:spPr>
          <a:xfrm>
            <a:off x="77724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Enfoque y tipo de estudio</a:t>
            </a:r>
            <a:endParaRPr lang="en-US" sz="1400" dirty="0"/>
          </a:p>
        </p:txBody>
      </p:sp>
      <p:sp>
        <p:nvSpPr>
          <p:cNvPr id="8" name="Tarjeta paso 2"/>
          <p:cNvSpPr/>
          <p:nvPr/>
        </p:nvSpPr>
        <p:spPr>
          <a:xfrm>
            <a:off x="262128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Círculo paso 2"/>
          <p:cNvSpPr/>
          <p:nvPr/>
        </p:nvSpPr>
        <p:spPr>
          <a:xfrm>
            <a:off x="28498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Número paso 2"/>
          <p:cNvSpPr txBox="1"/>
          <p:nvPr/>
        </p:nvSpPr>
        <p:spPr>
          <a:xfrm>
            <a:off x="2849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ítulo paso 2"/>
          <p:cNvSpPr txBox="1"/>
          <p:nvPr/>
        </p:nvSpPr>
        <p:spPr>
          <a:xfrm>
            <a:off x="28498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Participantes</a:t>
            </a:r>
            <a:endParaRPr lang="en-US" sz="1800" dirty="0"/>
          </a:p>
        </p:txBody>
      </p:sp>
      <p:sp>
        <p:nvSpPr>
          <p:cNvPr id="12" name="Descripción paso 2"/>
          <p:cNvSpPr txBox="1"/>
          <p:nvPr/>
        </p:nvSpPr>
        <p:spPr>
          <a:xfrm>
            <a:off x="284988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Muestra y contexto</a:t>
            </a:r>
            <a:endParaRPr lang="en-US" sz="1400" dirty="0"/>
          </a:p>
        </p:txBody>
      </p:sp>
      <p:sp>
        <p:nvSpPr>
          <p:cNvPr id="13" name="Tarjeta paso 3"/>
          <p:cNvSpPr/>
          <p:nvPr/>
        </p:nvSpPr>
        <p:spPr>
          <a:xfrm>
            <a:off x="469392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Círculo paso 3"/>
          <p:cNvSpPr/>
          <p:nvPr/>
        </p:nvSpPr>
        <p:spPr>
          <a:xfrm>
            <a:off x="49225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Número paso 3"/>
          <p:cNvSpPr txBox="1"/>
          <p:nvPr/>
        </p:nvSpPr>
        <p:spPr>
          <a:xfrm>
            <a:off x="4922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ítulo paso 3"/>
          <p:cNvSpPr txBox="1"/>
          <p:nvPr/>
        </p:nvSpPr>
        <p:spPr>
          <a:xfrm>
            <a:off x="49225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Instrumentos</a:t>
            </a:r>
            <a:endParaRPr lang="en-US" sz="1800" dirty="0"/>
          </a:p>
        </p:txBody>
      </p:sp>
      <p:sp>
        <p:nvSpPr>
          <p:cNvPr id="17" name="Descripción paso 3"/>
          <p:cNvSpPr txBox="1"/>
          <p:nvPr/>
        </p:nvSpPr>
        <p:spPr>
          <a:xfrm>
            <a:off x="492252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Técnicas de recolección de datos</a:t>
            </a:r>
            <a:endParaRPr lang="en-US" sz="1400" dirty="0"/>
          </a:p>
        </p:txBody>
      </p:sp>
      <p:sp>
        <p:nvSpPr>
          <p:cNvPr id="18" name="Tarjeta paso 4"/>
          <p:cNvSpPr/>
          <p:nvPr/>
        </p:nvSpPr>
        <p:spPr>
          <a:xfrm>
            <a:off x="676656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Círculo paso 4"/>
          <p:cNvSpPr/>
          <p:nvPr/>
        </p:nvSpPr>
        <p:spPr>
          <a:xfrm>
            <a:off x="6995160" y="1783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Número paso 4"/>
          <p:cNvSpPr txBox="1"/>
          <p:nvPr/>
        </p:nvSpPr>
        <p:spPr>
          <a:xfrm>
            <a:off x="69951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ítulo paso 4"/>
          <p:cNvSpPr txBox="1"/>
          <p:nvPr/>
        </p:nvSpPr>
        <p:spPr>
          <a:xfrm>
            <a:off x="69951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Análisis</a:t>
            </a:r>
            <a:endParaRPr lang="en-US" sz="1800" dirty="0"/>
          </a:p>
        </p:txBody>
      </p:sp>
      <p:sp>
        <p:nvSpPr>
          <p:cNvPr id="22" name="Descripción paso 4"/>
          <p:cNvSpPr txBox="1"/>
          <p:nvPr/>
        </p:nvSpPr>
        <p:spPr>
          <a:xfrm>
            <a:off x="699516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Procedimiento de análisis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Resultados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49377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rjeta cifra 1"/>
          <p:cNvSpPr/>
          <p:nvPr/>
        </p:nvSpPr>
        <p:spPr>
          <a:xfrm>
            <a:off x="5852160" y="1508760"/>
            <a:ext cx="274320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Cifra 1"/>
          <p:cNvSpPr txBox="1"/>
          <p:nvPr/>
        </p:nvSpPr>
        <p:spPr>
          <a:xfrm>
            <a:off x="60807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00 %</a:t>
            </a:r>
            <a:endParaRPr lang="en-US" sz="4000" dirty="0"/>
          </a:p>
        </p:txBody>
      </p:sp>
      <p:sp>
        <p:nvSpPr>
          <p:cNvPr id="6" name="Etiqueta cifra 1"/>
          <p:cNvSpPr txBox="1"/>
          <p:nvPr/>
        </p:nvSpPr>
        <p:spPr>
          <a:xfrm>
            <a:off x="60807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Dato clave 1</a:t>
            </a:r>
            <a:endParaRPr lang="en-US" sz="1400" dirty="0"/>
          </a:p>
        </p:txBody>
      </p:sp>
      <p:sp>
        <p:nvSpPr>
          <p:cNvPr id="7" name="Tarjeta cifra 2"/>
          <p:cNvSpPr/>
          <p:nvPr/>
        </p:nvSpPr>
        <p:spPr>
          <a:xfrm>
            <a:off x="5852160" y="3017520"/>
            <a:ext cx="27432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Cifra 2"/>
          <p:cNvSpPr txBox="1"/>
          <p:nvPr/>
        </p:nvSpPr>
        <p:spPr>
          <a:xfrm>
            <a:off x="608076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00 %</a:t>
            </a:r>
            <a:endParaRPr lang="en-US" sz="4000" dirty="0"/>
          </a:p>
        </p:txBody>
      </p:sp>
      <p:sp>
        <p:nvSpPr>
          <p:cNvPr id="9" name="Etiqueta cifra 2"/>
          <p:cNvSpPr txBox="1"/>
          <p:nvPr/>
        </p:nvSpPr>
        <p:spPr>
          <a:xfrm>
            <a:off x="608076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Dato clave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3" name="Fila conclusión 1"/>
          <p:cNvSpPr/>
          <p:nvPr/>
        </p:nvSpPr>
        <p:spPr>
          <a:xfrm>
            <a:off x="548640" y="141732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Círculo conclusión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Número conclusión 1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ítulo conclusión 1"/>
          <p:cNvSpPr txBox="1"/>
          <p:nvPr/>
        </p:nvSpPr>
        <p:spPr>
          <a:xfrm>
            <a:off x="155448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Hallazgo principal</a:t>
            </a:r>
            <a:endParaRPr lang="en-US" sz="1800" dirty="0"/>
          </a:p>
        </p:txBody>
      </p:sp>
      <p:sp>
        <p:nvSpPr>
          <p:cNvPr id="7" name="Descripción conclusión 1"/>
          <p:cNvSpPr txBox="1"/>
          <p:nvPr/>
        </p:nvSpPr>
        <p:spPr>
          <a:xfrm>
            <a:off x="155448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Respuesta directa a la pregunta de investigación</a:t>
            </a:r>
            <a:endParaRPr lang="en-US" sz="1400" dirty="0"/>
          </a:p>
        </p:txBody>
      </p:sp>
      <p:sp>
        <p:nvSpPr>
          <p:cNvPr id="8" name="Fila conclusión 2"/>
          <p:cNvSpPr/>
          <p:nvPr/>
        </p:nvSpPr>
        <p:spPr>
          <a:xfrm>
            <a:off x="548640" y="246888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Círculo conclusión 2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Número conclusión 2"/>
          <p:cNvSpPr txBox="1"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ítulo conclusión 2"/>
          <p:cNvSpPr txBox="1"/>
          <p:nvPr/>
        </p:nvSpPr>
        <p:spPr>
          <a:xfrm>
            <a:off x="1554480" y="2560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Implicaciones para la práctica</a:t>
            </a:r>
            <a:endParaRPr lang="en-US" sz="1800" dirty="0"/>
          </a:p>
        </p:txBody>
      </p:sp>
      <p:sp>
        <p:nvSpPr>
          <p:cNvPr id="12" name="Descripción conclusión 2"/>
          <p:cNvSpPr txBox="1"/>
          <p:nvPr/>
        </p:nvSpPr>
        <p:spPr>
          <a:xfrm>
            <a:off x="155448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Qué puede hacer el profesorado o la institución</a:t>
            </a:r>
            <a:endParaRPr lang="en-US" sz="1400" dirty="0"/>
          </a:p>
        </p:txBody>
      </p:sp>
      <p:sp>
        <p:nvSpPr>
          <p:cNvPr id="13" name="Fila conclusión 3"/>
          <p:cNvSpPr/>
          <p:nvPr/>
        </p:nvSpPr>
        <p:spPr>
          <a:xfrm>
            <a:off x="548640" y="352044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Círculo conclusión 3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Número conclusión 3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ítulo conclusión 3"/>
          <p:cNvSpPr txBox="1"/>
          <p:nvPr/>
        </p:nvSpPr>
        <p:spPr>
          <a:xfrm>
            <a:off x="155448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Líneas futuras</a:t>
            </a:r>
            <a:endParaRPr lang="en-US" sz="1800" dirty="0"/>
          </a:p>
        </p:txBody>
      </p:sp>
      <p:sp>
        <p:nvSpPr>
          <p:cNvPr id="17" name="Descripción conclusión 3"/>
          <p:cNvSpPr txBox="1"/>
          <p:nvPr/>
        </p:nvSpPr>
        <p:spPr>
          <a:xfrm>
            <a:off x="1554480" y="3977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Limitaciones y próximos pasos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7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Gracias</a:t>
            </a:r>
            <a:endParaRPr lang="en-US" sz="5400" dirty="0"/>
          </a:p>
        </p:txBody>
      </p:sp>
      <p:sp>
        <p:nvSpPr>
          <p:cNvPr id="3" name="Lema"/>
          <p:cNvSpPr txBox="1"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A9E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diálogo entre los formadores de docentes de Iberoamérica</a:t>
            </a:r>
            <a:endParaRPr lang="en-US" sz="1800" dirty="0"/>
          </a:p>
        </p:txBody>
      </p:sp>
      <p:sp>
        <p:nvSpPr>
          <p:cNvPr id="4" name="Web">
            <a:hlinkClick r:id="rId3"/>
          </p:cNvPr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www.inedus.net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EDUS 2026">
  <a:themeElements>
    <a:clrScheme name="INEDUS 2026">
      <a:dk1>
        <a:srgbClr val="1B2433"/>
      </a:dk1>
      <a:lt1>
        <a:srgbClr val="FFFFFF"/>
      </a:lt1>
      <a:dk2>
        <a:srgbClr val="1A3A6B"/>
      </a:dk2>
      <a:lt2>
        <a:srgbClr val="F7F8FA"/>
      </a:lt2>
      <a:accent1>
        <a:srgbClr val="1A3A6B"/>
      </a:accent1>
      <a:accent2>
        <a:srgbClr val="3A9ECC"/>
      </a:accent2>
      <a:accent3>
        <a:srgbClr val="2A78B0"/>
      </a:accent3>
      <a:accent4>
        <a:srgbClr val="2E7D5E"/>
      </a:accent4>
      <a:accent5>
        <a:srgbClr val="64748B"/>
      </a:accent5>
      <a:accent6>
        <a:srgbClr val="CBD5E1"/>
      </a:accent6>
      <a:hlink>
        <a:srgbClr val="2A78B0"/>
      </a:hlink>
      <a:folHlink>
        <a:srgbClr val="64748B"/>
      </a:folHlink>
    </a:clrScheme>
    <a:fontScheme name="INEDUS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Presentación en pantalla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INEDUS 2026</vt:lpstr>
      <vt:lpstr>Innovación Educativa, Inclusión y Sostenibilidad en Educación Superior</vt:lpstr>
      <vt:lpstr>Introducción</vt:lpstr>
      <vt:lpstr>Metodología</vt:lpstr>
      <vt:lpstr>Resultados</vt:lpstr>
      <vt:lpstr>Conclusiones</vt:lpstr>
      <vt:lpstr>Gracias</vt:lpstr>
    </vt:vector>
  </TitlesOfParts>
  <Company>INEDUS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INEDUS 2026 — Plantilla ES</dc:title>
  <dc:subject>PptxGenJS Presentation</dc:subject>
  <dc:creator>INEDUS 2026</dc:creator>
  <cp:lastModifiedBy>uleam.arodriguez Rodriguez</cp:lastModifiedBy>
  <cp:revision>2</cp:revision>
  <dcterms:created xsi:type="dcterms:W3CDTF">2026-10-05T16:52:08Z</dcterms:created>
  <dcterms:modified xsi:type="dcterms:W3CDTF">2026-10-05T17:02:20Z</dcterms:modified>
</cp:coreProperties>
</file>